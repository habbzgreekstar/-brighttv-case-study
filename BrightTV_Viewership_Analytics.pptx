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0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033"/>
                </a:solidFill>
                <a:latin typeface="Arial"/>
              </a:rPr>
              <a:t>Sessions by day of week (SAST)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7C3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7C3B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949</c:v>
                </c:pt>
                <c:pt idx="1">
                  <c:v>1297</c:v>
                </c:pt>
                <c:pt idx="2">
                  <c:v>1549</c:v>
                </c:pt>
                <c:pt idx="3">
                  <c:v>1436</c:v>
                </c:pt>
                <c:pt idx="4">
                  <c:v>1675</c:v>
                </c:pt>
                <c:pt idx="5">
                  <c:v>1615</c:v>
                </c:pt>
                <c:pt idx="6">
                  <c:v>1413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0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033"/>
                </a:solidFill>
                <a:latin typeface="Arial"/>
              </a:rPr>
              <a:t>Sessions by hour of day (SAST)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0213D"/>
            </a:solidFill>
            <a:ln w="31750" cap="flat">
              <a:solidFill>
                <a:srgbClr val="10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0213D"/>
              </a:solidFill>
              <a:ln w="9525" cap="flat">
                <a:solidFill>
                  <a:srgbClr val="10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00:00</c:v>
                  </c:pt>
                  <c:pt idx="1">
                    <c:v>01:00</c:v>
                  </c:pt>
                  <c:pt idx="2">
                    <c:v>02:00</c:v>
                  </c:pt>
                  <c:pt idx="3">
                    <c:v>03:00</c:v>
                  </c:pt>
                  <c:pt idx="4">
                    <c:v>04:00</c:v>
                  </c:pt>
                  <c:pt idx="5">
                    <c:v>05:00</c:v>
                  </c:pt>
                  <c:pt idx="6">
                    <c:v>06:00</c:v>
                  </c:pt>
                  <c:pt idx="7">
                    <c:v>07:00</c:v>
                  </c:pt>
                  <c:pt idx="8">
                    <c:v>08:00</c:v>
                  </c:pt>
                  <c:pt idx="9">
                    <c:v>09:00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180</c:v>
                </c:pt>
                <c:pt idx="1">
                  <c:v>101</c:v>
                </c:pt>
                <c:pt idx="2">
                  <c:v>79</c:v>
                </c:pt>
                <c:pt idx="3">
                  <c:v>55</c:v>
                </c:pt>
                <c:pt idx="4">
                  <c:v>49</c:v>
                </c:pt>
                <c:pt idx="5">
                  <c:v>93</c:v>
                </c:pt>
                <c:pt idx="6">
                  <c:v>179</c:v>
                </c:pt>
                <c:pt idx="7">
                  <c:v>296</c:v>
                </c:pt>
                <c:pt idx="8">
                  <c:v>398</c:v>
                </c:pt>
                <c:pt idx="9">
                  <c:v>401</c:v>
                </c:pt>
                <c:pt idx="10">
                  <c:v>541</c:v>
                </c:pt>
                <c:pt idx="11">
                  <c:v>538</c:v>
                </c:pt>
                <c:pt idx="12">
                  <c:v>633</c:v>
                </c:pt>
                <c:pt idx="13">
                  <c:v>566</c:v>
                </c:pt>
                <c:pt idx="14">
                  <c:v>619</c:v>
                </c:pt>
                <c:pt idx="15">
                  <c:v>637</c:v>
                </c:pt>
                <c:pt idx="16">
                  <c:v>620</c:v>
                </c:pt>
                <c:pt idx="17">
                  <c:v>643</c:v>
                </c:pt>
                <c:pt idx="18">
                  <c:v>628</c:v>
                </c:pt>
                <c:pt idx="19">
                  <c:v>646</c:v>
                </c:pt>
                <c:pt idx="20">
                  <c:v>617</c:v>
                </c:pt>
                <c:pt idx="21">
                  <c:v>566</c:v>
                </c:pt>
                <c:pt idx="22">
                  <c:v>487</c:v>
                </c:pt>
                <c:pt idx="23">
                  <c:v>362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0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033"/>
                </a:solidFill>
                <a:latin typeface="Arial"/>
              </a:rPr>
              <a:t>Share of sessions by content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sessions</c:v>
                </c:pt>
              </c:strCache>
            </c:strRef>
          </c:tx>
          <c:spPr>
            <a:solidFill>
              <a:srgbClr val="FFB6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6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Sport</c:v>
                  </c:pt>
                  <c:pt idx="1">
                    <c:v>Music/Ent.</c:v>
                  </c:pt>
                  <c:pt idx="2">
                    <c:v>Kids</c:v>
                  </c:pt>
                  <c:pt idx="3">
                    <c:v>Local Drama</c:v>
                  </c:pt>
                  <c:pt idx="4">
                    <c:v>Ent./Lifestyle</c:v>
                  </c:pt>
                  <c:pt idx="5">
                    <c:v>News</c:v>
                  </c:pt>
                  <c:pt idx="6">
                    <c:v>Gen. Ent.</c:v>
                  </c:pt>
                  <c:pt idx="7">
                    <c:v>Gen. Ent. (Afr.)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41.6</c:v>
                </c:pt>
                <c:pt idx="1">
                  <c:v>20.2</c:v>
                </c:pt>
                <c:pt idx="2">
                  <c:v>15.2</c:v>
                </c:pt>
                <c:pt idx="3">
                  <c:v>8.6</c:v>
                </c:pt>
                <c:pt idx="4">
                  <c:v>7.4</c:v>
                </c:pt>
                <c:pt idx="5">
                  <c:v>5.1</c:v>
                </c:pt>
                <c:pt idx="6">
                  <c:v>1.2</c:v>
                </c:pt>
                <c:pt idx="7">
                  <c:v>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0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033"/>
                </a:solidFill>
                <a:latin typeface="Arial"/>
              </a:rPr>
              <a:t>Share of sessions by age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sessions</c:v>
                </c:pt>
              </c:strCache>
            </c:strRef>
          </c:tx>
          <c:spPr>
            <a:solidFill>
              <a:srgbClr val="182A5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C3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7C3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82A5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&lt;18</c:v>
                  </c:pt>
                  <c:pt idx="1">
                    <c:v>18-24</c:v>
                  </c:pt>
                  <c:pt idx="2">
                    <c:v>25-34</c:v>
                  </c:pt>
                  <c:pt idx="3">
                    <c:v>35-44</c:v>
                  </c:pt>
                  <c:pt idx="4">
                    <c:v>45-54</c:v>
                  </c:pt>
                  <c:pt idx="5">
                    <c:v>55-64</c:v>
                  </c:pt>
                  <c:pt idx="6">
                    <c:v>65+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5.4</c:v>
                </c:pt>
                <c:pt idx="1">
                  <c:v>14.9</c:v>
                </c:pt>
                <c:pt idx="2">
                  <c:v>41.4</c:v>
                </c:pt>
                <c:pt idx="3">
                  <c:v>26.4</c:v>
                </c:pt>
                <c:pt idx="4">
                  <c:v>9.2</c:v>
                </c:pt>
                <c:pt idx="5">
                  <c:v>2.1</c:v>
                </c:pt>
                <c:pt idx="6">
                  <c:v>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213D"/>
              </a:solidFill>
              <a:effectLst/>
            </c:spPr>
          </c:dPt>
          <c:dPt>
            <c:idx val="1"/>
            <c:bubble3D val="0"/>
            <c:spPr>
              <a:solidFill>
                <a:srgbClr val="FF6B5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89.9</c:v>
                </c:pt>
                <c:pt idx="1">
                  <c:v>10.1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0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0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033"/>
                </a:solidFill>
                <a:latin typeface="Arial"/>
              </a:rPr>
              <a:t>Active viewers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viewers</c:v>
                </c:pt>
              </c:strCache>
            </c:strRef>
          </c:tx>
          <c:spPr>
            <a:solidFill>
              <a:srgbClr val="182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W.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E. Cape</c:v>
                  </c:pt>
                  <c:pt idx="6">
                    <c:v>N. West</c:v>
                  </c:pt>
                  <c:pt idx="7">
                    <c:v>Free State</c:v>
                  </c:pt>
                  <c:pt idx="8">
                    <c:v>N.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1606</c:v>
                </c:pt>
                <c:pt idx="1">
                  <c:v>764</c:v>
                </c:pt>
                <c:pt idx="2">
                  <c:v>446</c:v>
                </c:pt>
                <c:pt idx="3">
                  <c:v>391</c:v>
                </c:pt>
                <c:pt idx="4">
                  <c:v>342</c:v>
                </c:pt>
                <c:pt idx="5">
                  <c:v>269</c:v>
                </c:pt>
                <c:pt idx="6">
                  <c:v>152</c:v>
                </c:pt>
                <c:pt idx="7">
                  <c:v>147</c:v>
                </c:pt>
                <c:pt idx="8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033"/>
                </a:solidFill>
                <a:latin typeface="Arial"/>
              </a:defRPr>
            </a:pPr>
            <a:r>
              <a:rPr sz="1250" b="0" i="0" u="none" strike="noStrike">
                <a:solidFill>
                  <a:srgbClr val="1B2033"/>
                </a:solidFill>
                <a:latin typeface="Arial"/>
              </a:rPr>
              <a:t>Content-category mix: Monday vs. Fri/Sat (% of sessions)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Monday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Sport</c:v>
                  </c:pt>
                  <c:pt idx="1">
                    <c:v>Music/Ent.</c:v>
                  </c:pt>
                  <c:pt idx="2">
                    <c:v>Kids</c:v>
                  </c:pt>
                  <c:pt idx="3">
                    <c:v>Local Drama</c:v>
                  </c:pt>
                  <c:pt idx="4">
                    <c:v>Ent./Lifestyle</c:v>
                  </c:pt>
                  <c:pt idx="5">
                    <c:v>News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26.9</c:v>
                </c:pt>
                <c:pt idx="1">
                  <c:v>26.4</c:v>
                </c:pt>
                <c:pt idx="2">
                  <c:v>18.8</c:v>
                </c:pt>
                <c:pt idx="3">
                  <c:v>9.8</c:v>
                </c:pt>
                <c:pt idx="4">
                  <c:v>7.9</c:v>
                </c:pt>
                <c:pt idx="5">
                  <c:v>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Fri / Sat (peak days)</c:v>
                </c:pt>
              </c:strCache>
            </c:strRef>
          </c:tx>
          <c:spPr>
            <a:solidFill>
              <a:srgbClr val="17C3B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Sport</c:v>
                  </c:pt>
                  <c:pt idx="1">
                    <c:v>Music/Ent.</c:v>
                  </c:pt>
                  <c:pt idx="2">
                    <c:v>Kids</c:v>
                  </c:pt>
                  <c:pt idx="3">
                    <c:v>Local Drama</c:v>
                  </c:pt>
                  <c:pt idx="4">
                    <c:v>Ent./Lifestyle</c:v>
                  </c:pt>
                  <c:pt idx="5">
                    <c:v>News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46.3</c:v>
                </c:pt>
                <c:pt idx="1">
                  <c:v>17.7</c:v>
                </c:pt>
                <c:pt idx="2">
                  <c:v>14.7</c:v>
                </c:pt>
                <c:pt idx="3">
                  <c:v>7.8</c:v>
                </c:pt>
                <c:pt idx="4">
                  <c:v>7.7</c:v>
                </c:pt>
                <c:pt idx="5">
                  <c:v>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0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3139135" cy="6858000"/>
          </a:xfrm>
          <a:prstGeom prst="rect">
            <a:avLst/>
          </a:prstGeom>
          <a:solidFill>
            <a:srgbClr val="18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822960"/>
            <a:ext cx="1920240" cy="1920240"/>
          </a:xfrm>
          <a:prstGeom prst="ellipse">
            <a:avLst/>
          </a:prstGeom>
          <a:solidFill>
            <a:srgbClr val="17C3B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206240"/>
            <a:ext cx="2377440" cy="2377440"/>
          </a:xfrm>
          <a:prstGeom prst="ellipse">
            <a:avLst/>
          </a:prstGeom>
          <a:solidFill>
            <a:srgbClr val="FFB62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·  CVM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Viewership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Q1 2016 viewing behaviour into a subscriber-growth plan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5528" y="3703320"/>
            <a:ext cx="1005840" cy="0"/>
          </a:xfrm>
          <a:prstGeom prst="line">
            <a:avLst/>
          </a:prstGeom>
          <a:noFill/>
          <a:ln w="31750">
            <a:solidFill>
              <a:srgbClr val="17C3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77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Executive Committee &amp; CVM Team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 ·  Data &amp; Insights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covered: 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– March 2016 (SAST)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 viewers, a Monday dip, and a clear growth path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5,375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67512" y="211226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Profiled subscribers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2386584"/>
            <a:ext cx="2276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user 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211226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viewer rate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2386584"/>
            <a:ext cx="2276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 at least once in Q1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7336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1,522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81928" y="211226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watch time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81928" y="2386584"/>
            <a:ext cx="2276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across 9,934 sessions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24544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9136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min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89136" y="211226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session length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89136" y="2386584"/>
            <a:ext cx="2276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just 1.8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82296" cy="822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74136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(mainly SuperSport &amp; the ICC Cricket World Cup) drives 42% of sessions and every usage peak — Friday, Saturday and the 5–8pm window.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" y="4160520"/>
            <a:ext cx="82296" cy="822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32504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is the quietest day, 22% below the weekly average session count, as sport viewing drops off and is only partly replaced by other genres.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" y="4818888"/>
            <a:ext cx="82296" cy="822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908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with a complete profile are active 94.5% of the time vs. just 19% for the 17% of the base with incomplete sign-up data — a large, fixable engagement gap.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" y="5477256"/>
            <a:ext cx="82296" cy="822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3492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KwaZulu-Natal and the Eastern Cape are badly under-represented against their share of the SA population — the two biggest acquisition white-spaces.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8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Usage Trends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How, when and by whom BrightTV is being watched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has a clear shape — and a clear gap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234440"/>
            <a:ext cx="3886200" cy="4206240"/>
          </a:xfrm>
          <a:prstGeom prst="roundRect">
            <a:avLst>
              <a:gd name="adj" fmla="val 2353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WEEK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46720" y="182880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F6B5B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8288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15400" y="177393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949 sessions — the low point of the week, 22% below the daily average.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46720" y="278892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7C3B2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27889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Fri–Sat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915400" y="273405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1,675 &amp; 1,615 sessions — weekend sport fixtures pull the biggest crowds.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7490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82A52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37490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15400" y="369417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Eases off from Saturday as the weekend sport slate thins out.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time runs from midday through to 8pm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11155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783080"/>
            <a:ext cx="3611880" cy="3383280"/>
          </a:xfrm>
          <a:prstGeom prst="rect">
            <a:avLst/>
          </a:prstGeom>
          <a:solidFill>
            <a:srgbClr val="17C3B2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263640" y="18288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TIME — 12:00 TO 20:00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 SAST with 643 sessions.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morning (00:00–06:00) is dead air for live content — a natural window for on-demand catch-up and ad-funded reruns instead of new commissions.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carries the platform — but it is not the whole story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1887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188720"/>
            <a:ext cx="3977640" cy="4297680"/>
          </a:xfrm>
          <a:prstGeom prst="roundRect">
            <a:avLst>
              <a:gd name="adj" fmla="val 2299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CHANNELS BY SESSIONS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17830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SuperSport Live Events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955280" y="2020824"/>
            <a:ext cx="2926080" cy="118872"/>
          </a:xfrm>
          <a:prstGeom prst="roundRect">
            <a:avLst>
              <a:gd name="adj" fmla="val 23077"/>
            </a:avLst>
          </a:prstGeom>
          <a:solidFill>
            <a:srgbClr val="E4E6ED"/>
          </a:solidFill>
          <a:ln/>
        </p:spPr>
      </p:sp>
      <p:sp>
        <p:nvSpPr>
          <p:cNvPr id="9" name="Shape 6"/>
          <p:cNvSpPr/>
          <p:nvPr/>
        </p:nvSpPr>
        <p:spPr>
          <a:xfrm>
            <a:off x="7955280" y="2020824"/>
            <a:ext cx="2926080" cy="118872"/>
          </a:xfrm>
          <a:prstGeom prst="roundRect">
            <a:avLst>
              <a:gd name="adj" fmla="val 23077"/>
            </a:avLst>
          </a:prstGeom>
          <a:solidFill>
            <a:srgbClr val="FFB627"/>
          </a:solidFill>
          <a:ln/>
        </p:spPr>
      </p:sp>
      <p:sp>
        <p:nvSpPr>
          <p:cNvPr id="10" name="Text 7"/>
          <p:cNvSpPr/>
          <p:nvPr/>
        </p:nvSpPr>
        <p:spPr>
          <a:xfrm>
            <a:off x="10927080" y="1892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236829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Cricket WC 2011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55280" y="2606040"/>
            <a:ext cx="2926080" cy="118872"/>
          </a:xfrm>
          <a:prstGeom prst="roundRect">
            <a:avLst>
              <a:gd name="adj" fmla="val 23077"/>
            </a:avLst>
          </a:prstGeom>
          <a:solidFill>
            <a:srgbClr val="E4E6ED"/>
          </a:solidFill>
          <a:ln/>
        </p:spPr>
      </p:sp>
      <p:sp>
        <p:nvSpPr>
          <p:cNvPr id="13" name="Shape 10"/>
          <p:cNvSpPr/>
          <p:nvPr/>
        </p:nvSpPr>
        <p:spPr>
          <a:xfrm>
            <a:off x="7955280" y="2606040"/>
            <a:ext cx="2576146" cy="118872"/>
          </a:xfrm>
          <a:prstGeom prst="roundRect">
            <a:avLst>
              <a:gd name="adj" fmla="val 23077"/>
            </a:avLst>
          </a:prstGeom>
          <a:solidFill>
            <a:srgbClr val="17C3B2"/>
          </a:solidFill>
          <a:ln/>
        </p:spPr>
      </p:sp>
      <p:sp>
        <p:nvSpPr>
          <p:cNvPr id="14" name="Text 11"/>
          <p:cNvSpPr/>
          <p:nvPr/>
        </p:nvSpPr>
        <p:spPr>
          <a:xfrm>
            <a:off x="10927080" y="24780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55280" y="29535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55280" y="3191256"/>
            <a:ext cx="2926080" cy="118872"/>
          </a:xfrm>
          <a:prstGeom prst="roundRect">
            <a:avLst>
              <a:gd name="adj" fmla="val 23077"/>
            </a:avLst>
          </a:prstGeom>
          <a:solidFill>
            <a:srgbClr val="E4E6ED"/>
          </a:solidFill>
          <a:ln/>
        </p:spPr>
      </p:sp>
      <p:sp>
        <p:nvSpPr>
          <p:cNvPr id="17" name="Shape 14"/>
          <p:cNvSpPr/>
          <p:nvPr/>
        </p:nvSpPr>
        <p:spPr>
          <a:xfrm>
            <a:off x="7955280" y="3191256"/>
            <a:ext cx="1846385" cy="118872"/>
          </a:xfrm>
          <a:prstGeom prst="roundRect">
            <a:avLst>
              <a:gd name="adj" fmla="val 23077"/>
            </a:avLst>
          </a:prstGeom>
          <a:solidFill>
            <a:srgbClr val="17C3B2"/>
          </a:solidFill>
          <a:ln/>
        </p:spPr>
      </p:sp>
      <p:sp>
        <p:nvSpPr>
          <p:cNvPr id="18" name="Text 15"/>
          <p:cNvSpPr/>
          <p:nvPr/>
        </p:nvSpPr>
        <p:spPr>
          <a:xfrm>
            <a:off x="10927080" y="3063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35387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TV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55280" y="3776472"/>
            <a:ext cx="2926080" cy="118872"/>
          </a:xfrm>
          <a:prstGeom prst="roundRect">
            <a:avLst>
              <a:gd name="adj" fmla="val 23077"/>
            </a:avLst>
          </a:prstGeom>
          <a:solidFill>
            <a:srgbClr val="E4E6ED"/>
          </a:solidFill>
          <a:ln/>
        </p:spPr>
      </p:sp>
      <p:sp>
        <p:nvSpPr>
          <p:cNvPr id="21" name="Shape 18"/>
          <p:cNvSpPr/>
          <p:nvPr/>
        </p:nvSpPr>
        <p:spPr>
          <a:xfrm>
            <a:off x="7955280" y="3776472"/>
            <a:ext cx="1674055" cy="118872"/>
          </a:xfrm>
          <a:prstGeom prst="roundRect">
            <a:avLst>
              <a:gd name="adj" fmla="val 23077"/>
            </a:avLst>
          </a:prstGeom>
          <a:solidFill>
            <a:srgbClr val="17C3B2"/>
          </a:solidFill>
          <a:ln/>
        </p:spPr>
      </p:sp>
      <p:sp>
        <p:nvSpPr>
          <p:cNvPr id="22" name="Text 19"/>
          <p:cNvSpPr/>
          <p:nvPr/>
        </p:nvSpPr>
        <p:spPr>
          <a:xfrm>
            <a:off x="10927080" y="36484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55280" y="412394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SuperSport Blitz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55280" y="4361688"/>
            <a:ext cx="2926080" cy="118872"/>
          </a:xfrm>
          <a:prstGeom prst="roundRect">
            <a:avLst>
              <a:gd name="adj" fmla="val 23077"/>
            </a:avLst>
          </a:prstGeom>
          <a:solidFill>
            <a:srgbClr val="E4E6ED"/>
          </a:solidFill>
          <a:ln/>
        </p:spPr>
      </p:sp>
      <p:sp>
        <p:nvSpPr>
          <p:cNvPr id="25" name="Shape 22"/>
          <p:cNvSpPr/>
          <p:nvPr/>
        </p:nvSpPr>
        <p:spPr>
          <a:xfrm>
            <a:off x="7955280" y="4361688"/>
            <a:ext cx="1575582" cy="118872"/>
          </a:xfrm>
          <a:prstGeom prst="roundRect">
            <a:avLst>
              <a:gd name="adj" fmla="val 23077"/>
            </a:avLst>
          </a:prstGeom>
          <a:solidFill>
            <a:srgbClr val="17C3B2"/>
          </a:solidFill>
          <a:ln/>
        </p:spPr>
      </p:sp>
      <p:sp>
        <p:nvSpPr>
          <p:cNvPr id="26" name="Text 23"/>
          <p:cNvSpPr/>
          <p:nvPr/>
        </p:nvSpPr>
        <p:spPr>
          <a:xfrm>
            <a:off x="10927080" y="42336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55280" y="47091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Magic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55280" y="4946904"/>
            <a:ext cx="2926080" cy="118872"/>
          </a:xfrm>
          <a:prstGeom prst="roundRect">
            <a:avLst>
              <a:gd name="adj" fmla="val 23077"/>
            </a:avLst>
          </a:prstGeom>
          <a:solidFill>
            <a:srgbClr val="E4E6ED"/>
          </a:solidFill>
          <a:ln/>
        </p:spPr>
      </p:sp>
      <p:sp>
        <p:nvSpPr>
          <p:cNvPr id="29" name="Shape 26"/>
          <p:cNvSpPr/>
          <p:nvPr/>
        </p:nvSpPr>
        <p:spPr>
          <a:xfrm>
            <a:off x="7955280" y="4946904"/>
            <a:ext cx="1510518" cy="118872"/>
          </a:xfrm>
          <a:prstGeom prst="roundRect">
            <a:avLst>
              <a:gd name="adj" fmla="val 23077"/>
            </a:avLst>
          </a:prstGeom>
          <a:solidFill>
            <a:srgbClr val="17C3B2"/>
          </a:solidFill>
          <a:ln/>
        </p:spPr>
      </p:sp>
      <p:sp>
        <p:nvSpPr>
          <p:cNvPr id="30" name="Text 27"/>
          <p:cNvSpPr/>
          <p:nvPr/>
        </p:nvSpPr>
        <p:spPr>
          <a:xfrm>
            <a:off x="10927080" y="48188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watching: skews young-adult and heavily male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23444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SPLIT OF SESSIONS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8001000" y="1783080"/>
          <a:ext cx="33832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909560" y="44805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~1 in 10 sessions come from female subscribers — the single largest demographic imbalance in the base, and a clear acquisition segment.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are: subscriber base is concentrated in two provinces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18872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18872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3533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BASE vs. SA POPULATION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170078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= subscriber share ÷ population share × 100. Below 100 = under-represented.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Cape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601200" y="2212848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6ED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0" y="2212848"/>
            <a:ext cx="563270" cy="201168"/>
          </a:xfrm>
          <a:prstGeom prst="roundRect">
            <a:avLst>
              <a:gd name="adj" fmla="val 18182"/>
            </a:avLst>
          </a:prstGeom>
          <a:solidFill>
            <a:srgbClr val="FF6B5B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2651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West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601200" y="2670048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6ED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0" y="2670048"/>
            <a:ext cx="588874" cy="201168"/>
          </a:xfrm>
          <a:prstGeom prst="roundRect">
            <a:avLst>
              <a:gd name="adj" fmla="val 18182"/>
            </a:avLst>
          </a:prstGeom>
          <a:solidFill>
            <a:srgbClr val="FF6B5B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2651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KZN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601200" y="3127248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6ED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0" y="3127248"/>
            <a:ext cx="601675" cy="201168"/>
          </a:xfrm>
          <a:prstGeom prst="roundRect">
            <a:avLst>
              <a:gd name="adj" fmla="val 18182"/>
            </a:avLst>
          </a:prstGeom>
          <a:solidFill>
            <a:srgbClr val="FF6B5B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5528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State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01200" y="3584448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6ED"/>
          </a:solidFill>
          <a:ln/>
        </p:spPr>
      </p:sp>
      <p:sp>
        <p:nvSpPr>
          <p:cNvPr id="22" name="Shape 19"/>
          <p:cNvSpPr/>
          <p:nvPr/>
        </p:nvSpPr>
        <p:spPr>
          <a:xfrm>
            <a:off x="9601200" y="3584448"/>
            <a:ext cx="755294" cy="201168"/>
          </a:xfrm>
          <a:prstGeom prst="roundRect">
            <a:avLst>
              <a:gd name="adj" fmla="val 18182"/>
            </a:avLst>
          </a:prstGeom>
          <a:solidFill>
            <a:srgbClr val="FF6B5B"/>
          </a:solidFill>
          <a:ln/>
        </p:spPr>
      </p:sp>
      <p:sp>
        <p:nvSpPr>
          <p:cNvPr id="23" name="Text 20"/>
          <p:cNvSpPr/>
          <p:nvPr/>
        </p:nvSpPr>
        <p:spPr>
          <a:xfrm>
            <a:off x="795528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55280" y="4023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Limpopo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01200" y="4041648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6ED"/>
          </a:solidFill>
          <a:ln/>
        </p:spPr>
      </p:sp>
      <p:sp>
        <p:nvSpPr>
          <p:cNvPr id="26" name="Shape 23"/>
          <p:cNvSpPr/>
          <p:nvPr/>
        </p:nvSpPr>
        <p:spPr>
          <a:xfrm>
            <a:off x="9601200" y="4041648"/>
            <a:ext cx="870509" cy="201168"/>
          </a:xfrm>
          <a:prstGeom prst="roundRect">
            <a:avLst>
              <a:gd name="adj" fmla="val 18182"/>
            </a:avLst>
          </a:prstGeom>
          <a:solidFill>
            <a:srgbClr val="FF6B5B"/>
          </a:solidFill>
          <a:ln/>
        </p:spPr>
      </p:sp>
      <p:sp>
        <p:nvSpPr>
          <p:cNvPr id="27" name="Text 24"/>
          <p:cNvSpPr/>
          <p:nvPr/>
        </p:nvSpPr>
        <p:spPr>
          <a:xfrm>
            <a:off x="7955280" y="4023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55280" y="4617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KwaZulu-Natal and the Eastern Cape are the biggest gaps — large populations, small subscriber footprints. Source: Stats SA 2016 Community Survey.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8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Consumption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factors that move viewing up or down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DRIVERS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factors explain most of the variation we see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00200"/>
            <a:ext cx="502920" cy="50292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22402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2743200"/>
            <a:ext cx="2295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Weekends and the 12:00–20:00 window concentrate viewing; Monday and the early hours are structurally quiet.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6002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4448" y="22402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Category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2743200"/>
            <a:ext cx="2295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sport (SuperSport, ICC Cricket World Cup) is the single biggest lever — it alone explains the Fri/Sat peaks.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160020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64808" y="22402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4808" y="2743200"/>
            <a:ext cx="2295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25–44 year-olds and male subscribers drive the bulk of sessions; female and older audiences are comparatively under-served.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5168" y="1600200"/>
            <a:ext cx="502920" cy="502920"/>
          </a:xfrm>
          <a:prstGeom prst="ellipse">
            <a:avLst/>
          </a:prstGeom>
          <a:solidFill>
            <a:srgbClr val="182A52"/>
          </a:solidFill>
          <a:ln/>
        </p:spPr>
      </p:sp>
      <p:sp>
        <p:nvSpPr>
          <p:cNvPr id="21" name="Text 19"/>
          <p:cNvSpPr/>
          <p:nvPr/>
        </p:nvSpPr>
        <p:spPr>
          <a:xfrm>
            <a:off x="9345168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45168" y="22402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Completeness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45168" y="2743200"/>
            <a:ext cx="2295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with a complete profile are active 94.5% of the time vs. 19% for incomplete ones — data quality predicts engagement.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8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Low-Consumption Day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program on Monday to close the gap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weekend sport, the content mix shifts — but volume drops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2344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1040" y="17830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22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1,766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watch on Friday or Saturday but never tune in on Monday.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21040" y="3063240"/>
            <a:ext cx="3246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Sport's share falls from 46% on peak days to 27% on Monday, while Music/Entertainment and Kids content hold up relatively better — the audience is there, just watching something else, less often.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program Monday for BrightTV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194560"/>
            <a:ext cx="2295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Sport Replay Block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880360"/>
            <a:ext cx="2295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highlight reels and full replays of Friday/Saturday SuperSport &amp; cricket fixtures on Monday evenings to extend the habit that already exists.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C3B2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2194560"/>
            <a:ext cx="2295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Kids &amp; Family Slot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2880360"/>
            <a:ext cx="2295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content already over-indexes on Monday relative to peak days — anchor a dedicated Cartoon Network/Boomerang after-school block.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B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4808" y="2194560"/>
            <a:ext cx="2295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Soapie &amp; Drama Launch 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4808" y="2880360"/>
            <a:ext cx="2295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Premiere new Africa Magic drama/local-content episodes on Monday to create an appointment-viewing reason to tune in and open the week.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3716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5168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82A52"/>
          </a:solidFill>
          <a:ln/>
        </p:spPr>
      </p:sp>
      <p:sp>
        <p:nvSpPr>
          <p:cNvPr id="21" name="Text 19"/>
          <p:cNvSpPr/>
          <p:nvPr/>
        </p:nvSpPr>
        <p:spPr>
          <a:xfrm>
            <a:off x="934516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45168" y="2194560"/>
            <a:ext cx="2295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Win-Back Push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45168" y="2880360"/>
            <a:ext cx="2295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personalised Monday reminders to the 1,766 peak-day-only viewers, recommending the specific genres they already watch on weekends.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8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FOUR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the Subscriber Base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initiatives to move the CEO's growth target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INITIATIVES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focus acquisition and activation spend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121408" cy="4663440"/>
          </a:xfrm>
          <a:prstGeom prst="roundRect">
            <a:avLst>
              <a:gd name="adj" fmla="val 431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463040"/>
            <a:ext cx="384048" cy="38404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196596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profile-completion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2761488"/>
            <a:ext cx="17922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of subscribers (920) have incomplete sign-up data and are active only 19% of the time vs. 94.5% for complete profiles. Fix onboarding capture and run a re-engagement campaign on this group.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66060" y="1280160"/>
            <a:ext cx="2121408" cy="4663440"/>
          </a:xfrm>
          <a:prstGeom prst="roundRect">
            <a:avLst>
              <a:gd name="adj" fmla="val 431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30652" y="1463040"/>
            <a:ext cx="384048" cy="38404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1" name="Text 9"/>
          <p:cNvSpPr/>
          <p:nvPr/>
        </p:nvSpPr>
        <p:spPr>
          <a:xfrm>
            <a:off x="2930652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30652" y="196596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in under-indexed provinces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30652" y="2761488"/>
            <a:ext cx="17922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KwaZulu-Natal and the Eastern Cape carry ~20% and ~13% of South Africa's population but a fraction of BrightTV's subscriber base — the clearest acquisition white-space.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1280160"/>
            <a:ext cx="2121408" cy="4663440"/>
          </a:xfrm>
          <a:prstGeom prst="roundRect">
            <a:avLst>
              <a:gd name="adj" fmla="val 431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1463040"/>
            <a:ext cx="384048" cy="38404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6" name="Text 14"/>
          <p:cNvSpPr/>
          <p:nvPr/>
        </p:nvSpPr>
        <p:spPr>
          <a:xfrm>
            <a:off x="5193792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93792" y="196596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sport as an acquisition hook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93792" y="2761488"/>
            <a:ext cx="17922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already drives 42% of viewing. Time promotions and free-trial windows around major fixtures (e.g. World Cup-style events) to convert casual viewers into subscribers.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92340" y="1280160"/>
            <a:ext cx="2121408" cy="4663440"/>
          </a:xfrm>
          <a:prstGeom prst="roundRect">
            <a:avLst>
              <a:gd name="adj" fmla="val 431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6932" y="1463040"/>
            <a:ext cx="384048" cy="384048"/>
          </a:xfrm>
          <a:prstGeom prst="ellipse">
            <a:avLst/>
          </a:prstGeom>
          <a:solidFill>
            <a:srgbClr val="182A52"/>
          </a:solidFill>
          <a:ln/>
        </p:spPr>
      </p:sp>
      <p:sp>
        <p:nvSpPr>
          <p:cNvPr id="21" name="Text 19"/>
          <p:cNvSpPr/>
          <p:nvPr/>
        </p:nvSpPr>
        <p:spPr>
          <a:xfrm>
            <a:off x="7456932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6932" y="196596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female subscriber segment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56932" y="2761488"/>
            <a:ext cx="17922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make up only ~10% of sessions. Lean into Entertainment/Lifestyle channels (E!, Vuzu) with targeted campaigns and content partnerships to broaden the base.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55480" y="1280160"/>
            <a:ext cx="2121408" cy="4663440"/>
          </a:xfrm>
          <a:prstGeom prst="roundRect">
            <a:avLst>
              <a:gd name="adj" fmla="val 4310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0072" y="1463040"/>
            <a:ext cx="384048" cy="384048"/>
          </a:xfrm>
          <a:prstGeom prst="ellipse">
            <a:avLst/>
          </a:prstGeom>
          <a:solidFill>
            <a:srgbClr val="6C4FD6"/>
          </a:solidFill>
          <a:ln/>
        </p:spPr>
      </p:sp>
      <p:sp>
        <p:nvSpPr>
          <p:cNvPr id="26" name="Text 24"/>
          <p:cNvSpPr/>
          <p:nvPr/>
        </p:nvSpPr>
        <p:spPr>
          <a:xfrm>
            <a:off x="9720072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0072" y="196596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 the Monday audience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20072" y="2761488"/>
            <a:ext cx="17922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Monday content plan (replay blocks, kids slot, drama launches, win-back messaging) to convert a quiet day into a second weekly peak.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the initiatives over the financial year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7C3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(0–3 months)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9052560" cy="1417320"/>
          </a:xfrm>
          <a:prstGeom prst="roundRect">
            <a:avLst>
              <a:gd name="adj" fmla="val 6452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371600"/>
            <a:ext cx="8641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onboarding data capture · Launch Monday sport-replay &amp; kids block · Win-back push to 1,766 lapsed Monday viewers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999232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B62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(3–6 months)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999232"/>
            <a:ext cx="9052560" cy="1417320"/>
          </a:xfrm>
          <a:prstGeom prst="roundRect">
            <a:avLst>
              <a:gd name="adj" fmla="val 6452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999232"/>
            <a:ext cx="8641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Re-engagement campaign for incomplete profiles · Africa Magic Monday drama launches · Female-segment content partnerships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626864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6B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26864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(6–12 months)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51760" y="4626864"/>
            <a:ext cx="9052560" cy="1417320"/>
          </a:xfrm>
          <a:prstGeom prst="roundRect">
            <a:avLst>
              <a:gd name="adj" fmla="val 6452"/>
            </a:avLst>
          </a:prstGeom>
          <a:solidFill>
            <a:srgbClr val="F6F7FA"/>
          </a:solidFill>
          <a:ln w="12700">
            <a:solidFill>
              <a:srgbClr val="E4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4626864"/>
            <a:ext cx="8641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Provincial acquisition campaigns in KZN &amp; Eastern Cape · Sport-tied free-trial promotions around major fixtures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17C3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291840" cy="3291840"/>
          </a:xfrm>
          <a:prstGeom prst="ellipse">
            <a:avLst/>
          </a:prstGeom>
          <a:solidFill>
            <a:srgbClr val="FFB62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95528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 ·  Data &amp; Insights  ·  BrightTV CVM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methodology notes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371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5,375 user profiles and 10,000 viewership session records supplied for Q1 2016 (Jan–Mar).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zone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20574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timestamps converted from UTC to South African Standard Time (SAST, UTC+2) before analysis.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definition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7432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 per subscriber session, per the case brief; 66 "Break in transmission" outage records excluded from content analysis.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names standardised for case/duplicate variants (e.g. "Sawsee"/"SawSee", "Supersport"/"SuperSport Live Events").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flag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114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 profiles (17%) are missing name, age and province — treated as incomplete rather than genuine zero-age users; 485 sessions had a mismatched secondary "userid" field, both valid IDs — flagged for source-system review.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Provincial benchmark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4800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share by province from Stats SA's 2016 Community Survey, the closest official estimate to the data period.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BrightTV  |  Viewership Analytics  |  Q1 2016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2026-08-20T22:18:50Z</dcterms:created>
  <dcterms:modified xsi:type="dcterms:W3CDTF">2026-08-20T22:18:50Z</dcterms:modified>
</cp:coreProperties>
</file>